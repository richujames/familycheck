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D70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3" name="Shape 3"/>
          <p:cNvSpPr txBox="1"/>
          <p:nvPr/>
        </p:nvSpPr>
        <p:spPr>
          <a:xfrm>
            <a:off x="594360" y="3931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rgbClr val="147D70"/>
                </a:solidFill>
                <a:latin typeface="Arial"/>
              </a:rPr>
              <a:t>MOBILE APP DEVELOPMENT / FAMILYCHECK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b="1">
                <a:solidFill>
                  <a:srgbClr val="172E3C"/>
                </a:solidFill>
                <a:latin typeface="Arial"/>
              </a:rPr>
              <a:t>FamilyCheck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526773"/>
                </a:solidFill>
                <a:latin typeface="Arial"/>
              </a:rPr>
              <a:t>A calmer next step for older adults</a:t>
            </a:r>
            <a:endParaRPr lang="en-US" sz="1900"/>
          </a:p>
        </p:txBody>
      </p:sp>
      <p:sp>
        <p:nvSpPr>
          <p:cNvPr id="6" name="Shape 6"/>
          <p:cNvSpPr txBox="1"/>
          <p:nvPr/>
        </p:nvSpPr>
        <p:spPr>
          <a:xfrm>
            <a:off x="59436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7" name="Shape 7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PROJECT PRESENTATION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Aravindh P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AM.SC.U4CYS23011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Richu James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AM.SC.U4CYS23036</a:t>
            </a:r>
            <a:endParaRPr lang="en-US" sz="1900"/>
          </a:p>
        </p:txBody>
      </p:sp>
      <p:sp>
        <p:nvSpPr>
          <p:cNvPr id="9" name="Shape 9"/>
          <p:cNvSpPr txBox="1"/>
          <p:nvPr/>
        </p:nvSpPr>
        <p:spPr>
          <a:xfrm>
            <a:off x="626364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10" name="Shape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MOBILE APP DEVELOPMENT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49224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Pause. Check. Connect.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 Java/XML Android application for recording concerns and consulting a trusted person.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594360" y="637336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Aravindh P | Richu James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10972800" y="63733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01 / 12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D70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3" name="Shape 3"/>
          <p:cNvSpPr txBox="1"/>
          <p:nvPr/>
        </p:nvSpPr>
        <p:spPr>
          <a:xfrm>
            <a:off x="594360" y="3931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rgbClr val="147D70"/>
                </a:solidFill>
                <a:latin typeface="Arial"/>
              </a:rPr>
              <a:t>MOBILE APP DEVELOPMENT / FAMILYCHECK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b="1">
                <a:solidFill>
                  <a:srgbClr val="172E3C"/>
                </a:solidFill>
                <a:latin typeface="Arial"/>
              </a:rPr>
              <a:t>The problem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526773"/>
                </a:solidFill>
                <a:latin typeface="Arial"/>
              </a:rPr>
              <a:t>Uncertainty needs a practical next step</a:t>
            </a:r>
            <a:endParaRPr lang="en-US" sz="1900"/>
          </a:p>
        </p:txBody>
      </p:sp>
      <p:sp>
        <p:nvSpPr>
          <p:cNvPr id="6" name="Shape 6"/>
          <p:cNvSpPr txBox="1"/>
          <p:nvPr/>
        </p:nvSpPr>
        <p:spPr>
          <a:xfrm>
            <a:off x="59436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7" name="Shape 7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THE SITUATION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An unexpected caller or message requests money, an OTP or immediate action.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The recipient needs a simple way to record the concern and ask for help.</a:t>
            </a:r>
            <a:endParaRPr lang="en-US" sz="1900"/>
          </a:p>
        </p:txBody>
      </p:sp>
      <p:sp>
        <p:nvSpPr>
          <p:cNvPr id="9" name="Shape 9"/>
          <p:cNvSpPr txBox="1"/>
          <p:nvPr/>
        </p:nvSpPr>
        <p:spPr>
          <a:xfrm>
            <a:off x="626364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10" name="Shape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OUR RESPONSE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49224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Guide the user through warning signs, known contacts and follow-up records.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The app supports human judgement; it does not certify a message as safe.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594360" y="637336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Aravindh P | Richu James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10972800" y="63733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02 / 12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D70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3" name="Shape 3"/>
          <p:cNvSpPr txBox="1"/>
          <p:nvPr/>
        </p:nvSpPr>
        <p:spPr>
          <a:xfrm>
            <a:off x="594360" y="3931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rgbClr val="147D70"/>
                </a:solidFill>
                <a:latin typeface="Arial"/>
              </a:rPr>
              <a:t>MOBILE APP DEVELOPMENT / FAMILYCHECK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b="1">
                <a:solidFill>
                  <a:srgbClr val="172E3C"/>
                </a:solidFill>
                <a:latin typeface="Arial"/>
              </a:rPr>
              <a:t>Project objectives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526773"/>
                </a:solidFill>
                <a:latin typeface="Arial"/>
              </a:rPr>
              <a:t>Useful functionality using basic Android concepts</a:t>
            </a:r>
            <a:endParaRPr lang="en-US" sz="1900"/>
          </a:p>
        </p:txBody>
      </p:sp>
      <p:sp>
        <p:nvSpPr>
          <p:cNvPr id="6" name="Shape 6"/>
          <p:cNvSpPr txBox="1"/>
          <p:nvPr/>
        </p:nvSpPr>
        <p:spPr>
          <a:xfrm>
            <a:off x="59436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7" name="Shape 7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FOR THE USER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Record a concerning interaction.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Notice pressure and secrecy.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Contact someone already trusted.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Review unresolved concerns later.</a:t>
            </a:r>
            <a:endParaRPr lang="en-US" sz="1900"/>
          </a:p>
        </p:txBody>
      </p:sp>
      <p:sp>
        <p:nvSpPr>
          <p:cNvPr id="9" name="Shape 9"/>
          <p:cNvSpPr txBox="1"/>
          <p:nvPr/>
        </p:nvSpPr>
        <p:spPr>
          <a:xfrm>
            <a:off x="626364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10" name="Shape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FOR THE COURSE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49224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Activities and Fragments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Explicit and implicit Intents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Custom lists and local storage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Menus, pickers and notifications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594360" y="637336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Aravindh P | Richu James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10972800" y="63733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03 / 12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D70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3" name="Shape 3"/>
          <p:cNvSpPr txBox="1"/>
          <p:nvPr/>
        </p:nvSpPr>
        <p:spPr>
          <a:xfrm>
            <a:off x="594360" y="3931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rgbClr val="147D70"/>
                </a:solidFill>
                <a:latin typeface="Arial"/>
              </a:rPr>
              <a:t>MOBILE APP DEVELOPMENT / FAMILYCHECK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b="1">
                <a:solidFill>
                  <a:srgbClr val="172E3C"/>
                </a:solidFill>
                <a:latin typeface="Arial"/>
              </a:rPr>
              <a:t>The user journey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526773"/>
                </a:solidFill>
                <a:latin typeface="Arial"/>
              </a:rPr>
              <a:t>From a concern to a recorded outcome</a:t>
            </a:r>
            <a:endParaRPr lang="en-US" sz="1900"/>
          </a:p>
        </p:txBody>
      </p:sp>
      <p:sp>
        <p:nvSpPr>
          <p:cNvPr id="6" name="Shape 6"/>
          <p:cNvSpPr txBox="1"/>
          <p:nvPr/>
        </p:nvSpPr>
        <p:spPr>
          <a:xfrm>
            <a:off x="59436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7" name="Shape 7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1  RECORD &amp; REVIEW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Choose the source.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Describe the message or call.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Select warning signs.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Save and open the check.</a:t>
            </a:r>
            <a:endParaRPr lang="en-US" sz="1900"/>
          </a:p>
        </p:txBody>
      </p:sp>
      <p:sp>
        <p:nvSpPr>
          <p:cNvPr id="9" name="Shape 9"/>
          <p:cNvSpPr txBox="1"/>
          <p:nvPr/>
        </p:nvSpPr>
        <p:spPr>
          <a:xfrm>
            <a:off x="626364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10" name="Shape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2  CONNECT &amp; FOLLOW UP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49224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Edit the sharing preview or call a trusted contact.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Verify the claim independently.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Record an outcome and note.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Set a reminder if needed.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594360" y="637336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Aravindh P | Richu James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10972800" y="63733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04 / 12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D70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3" name="Shape 3"/>
          <p:cNvSpPr txBox="1"/>
          <p:nvPr/>
        </p:nvSpPr>
        <p:spPr>
          <a:xfrm>
            <a:off x="594360" y="3931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rgbClr val="147D70"/>
                </a:solidFill>
                <a:latin typeface="Arial"/>
              </a:rPr>
              <a:t>MOBILE APP DEVELOPMENT / FAMILYCHECK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b="1">
                <a:solidFill>
                  <a:srgbClr val="172E3C"/>
                </a:solidFill>
                <a:latin typeface="Arial"/>
              </a:rPr>
              <a:t>Four tabs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526773"/>
                </a:solidFill>
                <a:latin typeface="Arial"/>
              </a:rPr>
              <a:t>A compact interface with larger-text support</a:t>
            </a:r>
            <a:endParaRPr lang="en-US" sz="1900"/>
          </a:p>
        </p:txBody>
      </p:sp>
      <p:sp>
        <p:nvSpPr>
          <p:cNvPr id="6" name="Shape 6"/>
          <p:cNvSpPr txBox="1"/>
          <p:nvPr/>
        </p:nvSpPr>
        <p:spPr>
          <a:xfrm>
            <a:off x="59436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7" name="Shape 7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HOME + CHECKS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Home: start a check, view follow-ups and call a trusted person.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Checks: search messages/notes, filter outcomes and sort by date.</a:t>
            </a:r>
            <a:endParaRPr lang="en-US" sz="1900"/>
          </a:p>
        </p:txBody>
      </p:sp>
      <p:sp>
        <p:nvSpPr>
          <p:cNvPr id="9" name="Shape 9"/>
          <p:cNvSpPr txBox="1"/>
          <p:nvPr/>
        </p:nvSpPr>
        <p:spPr>
          <a:xfrm>
            <a:off x="626364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10" name="Shape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PEOPLE + LEARN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49224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People: add, edit, search and favourite contacts; open dialer or SMS.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Learn: awareness cards and a five-question practice quiz.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594360" y="637336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Aravindh P | Richu James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10972800" y="63733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05 / 12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D70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3" name="Shape 3"/>
          <p:cNvSpPr txBox="1"/>
          <p:nvPr/>
        </p:nvSpPr>
        <p:spPr>
          <a:xfrm>
            <a:off x="594360" y="3931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rgbClr val="147D70"/>
                </a:solidFill>
                <a:latin typeface="Arial"/>
              </a:rPr>
              <a:t>MOBILE APP DEVELOPMENT / FAMILYCHECK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b="1">
                <a:solidFill>
                  <a:srgbClr val="172E3C"/>
                </a:solidFill>
                <a:latin typeface="Arial"/>
              </a:rPr>
              <a:t>System architecture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526773"/>
                </a:solidFill>
                <a:latin typeface="Arial"/>
              </a:rPr>
              <a:t>Local screens, local data and Android services</a:t>
            </a:r>
            <a:endParaRPr lang="en-US" sz="1900"/>
          </a:p>
        </p:txBody>
      </p:sp>
      <p:sp>
        <p:nvSpPr>
          <p:cNvPr id="6" name="Shape 6"/>
          <p:cNvSpPr txBox="1"/>
          <p:nvPr/>
        </p:nvSpPr>
        <p:spPr>
          <a:xfrm>
            <a:off x="59436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7" name="Shape 7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SCREENS &amp; LOGIC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MainActivity + DashboardFragment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CheckActivity + DetailActivity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ContactDialog + CardAdapter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QuizActivity + ReminderActivity</a:t>
            </a:r>
            <a:endParaRPr lang="en-US" sz="1900"/>
          </a:p>
        </p:txBody>
      </p:sp>
      <p:sp>
        <p:nvSpPr>
          <p:cNvPr id="9" name="Shape 9"/>
          <p:cNvSpPr txBox="1"/>
          <p:nvPr/>
        </p:nvSpPr>
        <p:spPr>
          <a:xfrm>
            <a:off x="626364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10" name="Shape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DATA &amp; INTEGRATION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49224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SQLite: checks and contacts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SharedPreferences: settings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Intents: sharing and phone apps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AlarmManager + NotificationManager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594360" y="637336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Aravindh P | Richu James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10972800" y="63733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06 / 12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D70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3" name="Shape 3"/>
          <p:cNvSpPr txBox="1"/>
          <p:nvPr/>
        </p:nvSpPr>
        <p:spPr>
          <a:xfrm>
            <a:off x="594360" y="3931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rgbClr val="147D70"/>
                </a:solidFill>
                <a:latin typeface="Arial"/>
              </a:rPr>
              <a:t>MOBILE APP DEVELOPMENT / FAMILYCHECK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b="1">
                <a:solidFill>
                  <a:srgbClr val="172E3C"/>
                </a:solidFill>
                <a:latin typeface="Arial"/>
              </a:rPr>
              <a:t>Database design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526773"/>
                </a:solidFill>
                <a:latin typeface="Arial"/>
              </a:rPr>
              <a:t>Two independent SQLite tables</a:t>
            </a:r>
            <a:endParaRPr lang="en-US" sz="1900"/>
          </a:p>
        </p:txBody>
      </p:sp>
      <p:sp>
        <p:nvSpPr>
          <p:cNvPr id="6" name="Shape 6"/>
          <p:cNvSpPr txBox="1"/>
          <p:nvPr/>
        </p:nvSpPr>
        <p:spPr>
          <a:xfrm>
            <a:off x="59436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7" name="Shape 7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CASES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_id: primary key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message, flags, source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status, note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created: timestamp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Stores concerns and outcomes.</a:t>
            </a:r>
            <a:endParaRPr lang="en-US" sz="1900"/>
          </a:p>
        </p:txBody>
      </p:sp>
      <p:sp>
        <p:nvSpPr>
          <p:cNvPr id="9" name="Shape 9"/>
          <p:cNvSpPr txBox="1"/>
          <p:nvPr/>
        </p:nvSpPr>
        <p:spPr>
          <a:xfrm>
            <a:off x="626364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10" name="Shape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CONTACTS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49224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_id: primary key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name, phone, relationship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favorite: 0 or 1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No case-to-contact link is stored.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594360" y="637336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Aravindh P | Richu James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10972800" y="63733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07 / 12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D70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3" name="Shape 3"/>
          <p:cNvSpPr txBox="1"/>
          <p:nvPr/>
        </p:nvSpPr>
        <p:spPr>
          <a:xfrm>
            <a:off x="594360" y="3931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rgbClr val="147D70"/>
                </a:solidFill>
                <a:latin typeface="Arial"/>
              </a:rPr>
              <a:t>MOBILE APP DEVELOPMENT / FAMILYCHECK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b="1">
                <a:solidFill>
                  <a:srgbClr val="172E3C"/>
                </a:solidFill>
                <a:latin typeface="Arial"/>
              </a:rPr>
              <a:t>Intents in action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526773"/>
                </a:solidFill>
                <a:latin typeface="Arial"/>
              </a:rPr>
              <a:t>Communication inside and outside the app</a:t>
            </a:r>
            <a:endParaRPr lang="en-US" sz="1900"/>
          </a:p>
        </p:txBody>
      </p:sp>
      <p:sp>
        <p:nvSpPr>
          <p:cNvPr id="6" name="Shape 6"/>
          <p:cNvSpPr txBox="1"/>
          <p:nvPr/>
        </p:nvSpPr>
        <p:spPr>
          <a:xfrm>
            <a:off x="59436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7" name="Shape 7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EXPLICIT INTENTS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CheckActivity opens DetailActivity.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The saved case ID is an extra.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 notification opens the Checks tab.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Target Activities read the extras.</a:t>
            </a:r>
            <a:endParaRPr lang="en-US" sz="1900"/>
          </a:p>
        </p:txBody>
      </p:sp>
      <p:sp>
        <p:nvSpPr>
          <p:cNvPr id="9" name="Shape 9"/>
          <p:cNvSpPr txBox="1"/>
          <p:nvPr/>
        </p:nvSpPr>
        <p:spPr>
          <a:xfrm>
            <a:off x="626364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10" name="Shape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IMPLICIT INTENTS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49224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ACTION_SEND: share/receive text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ACTION_DIAL: open dialer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ACTION_SENDTO: compose SMS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ACTION_VIEW: open guidance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The user completes the action.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594360" y="637336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Aravindh P | Richu James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10972800" y="63733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08 / 12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D70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3" name="Shape 3"/>
          <p:cNvSpPr txBox="1"/>
          <p:nvPr/>
        </p:nvSpPr>
        <p:spPr>
          <a:xfrm>
            <a:off x="594360" y="3931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rgbClr val="147D70"/>
                </a:solidFill>
                <a:latin typeface="Arial"/>
              </a:rPr>
              <a:t>MOBILE APP DEVELOPMENT / FAMILYCHECK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b="1">
                <a:solidFill>
                  <a:srgbClr val="172E3C"/>
                </a:solidFill>
                <a:latin typeface="Arial"/>
              </a:rPr>
              <a:t>Added functionality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526773"/>
                </a:solidFill>
                <a:latin typeface="Arial"/>
              </a:rPr>
              <a:t>Small features that support the core workflow</a:t>
            </a:r>
            <a:endParaRPr lang="en-US" sz="1900"/>
          </a:p>
        </p:txBody>
      </p:sp>
      <p:sp>
        <p:nvSpPr>
          <p:cNvPr id="6" name="Shape 6"/>
          <p:cNvSpPr txBox="1"/>
          <p:nvPr/>
        </p:nvSpPr>
        <p:spPr>
          <a:xfrm>
            <a:off x="59436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7" name="Shape 7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LEARN &amp; READ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Five practice scenarios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Feedback, score and retry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Quiz state saved across rotation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Larger-text preference stored locally</a:t>
            </a:r>
            <a:endParaRPr lang="en-US" sz="1900"/>
          </a:p>
        </p:txBody>
      </p:sp>
      <p:sp>
        <p:nvSpPr>
          <p:cNvPr id="9" name="Shape 9"/>
          <p:cNvSpPr txBox="1"/>
          <p:nvPr/>
        </p:nvSpPr>
        <p:spPr>
          <a:xfrm>
            <a:off x="626364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10" name="Shape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FOLLOW UP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49224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Date and time pickers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One general reminder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Test notification and cancellation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Local notifications, not remote push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594360" y="637336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Aravindh P | Richu James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10972800" y="63733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09 / 12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D70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3" name="Shape 3"/>
          <p:cNvSpPr txBox="1"/>
          <p:nvPr/>
        </p:nvSpPr>
        <p:spPr>
          <a:xfrm>
            <a:off x="594360" y="3931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rgbClr val="147D70"/>
                </a:solidFill>
                <a:latin typeface="Arial"/>
              </a:rPr>
              <a:t>MOBILE APP DEVELOPMENT / FAMILYCHECK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b="1">
                <a:solidFill>
                  <a:srgbClr val="172E3C"/>
                </a:solidFill>
                <a:latin typeface="Arial"/>
              </a:rPr>
              <a:t>Syllabus coverage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526773"/>
                </a:solidFill>
                <a:latin typeface="Arial"/>
              </a:rPr>
              <a:t>Units 1–3 applied in a single project</a:t>
            </a:r>
            <a:endParaRPr lang="en-US" sz="1900"/>
          </a:p>
        </p:txBody>
      </p:sp>
      <p:sp>
        <p:nvSpPr>
          <p:cNvPr id="6" name="Shape 6"/>
          <p:cNvSpPr txBox="1"/>
          <p:nvPr/>
        </p:nvSpPr>
        <p:spPr>
          <a:xfrm>
            <a:off x="59436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7" name="Shape 7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UNITS 1 &amp; 2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Java and project structure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Views, layouts and drawables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ListView, GridView and adapters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Toolbar, menus and Spinner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Activity/Fragment lifecycle</a:t>
            </a:r>
            <a:endParaRPr lang="en-US" sz="1900"/>
          </a:p>
        </p:txBody>
      </p:sp>
      <p:sp>
        <p:nvSpPr>
          <p:cNvPr id="9" name="Shape 9"/>
          <p:cNvSpPr txBox="1"/>
          <p:nvPr/>
        </p:nvSpPr>
        <p:spPr>
          <a:xfrm>
            <a:off x="626364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10" name="Shape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UNIT 3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49224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Explicit and implicit Intents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Data transfer through extras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Left navigation panel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Dialogs and Toast feedback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NotificationManager and permissions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594360" y="637336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Aravindh P | Richu James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10972800" y="63733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10 / 12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D70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3" name="Shape 3"/>
          <p:cNvSpPr txBox="1"/>
          <p:nvPr/>
        </p:nvSpPr>
        <p:spPr>
          <a:xfrm>
            <a:off x="594360" y="3931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rgbClr val="147D70"/>
                </a:solidFill>
                <a:latin typeface="Arial"/>
              </a:rPr>
              <a:t>MOBILE APP DEVELOPMENT / FAMILYCHECK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b="1">
                <a:solidFill>
                  <a:srgbClr val="172E3C"/>
                </a:solidFill>
                <a:latin typeface="Arial"/>
              </a:rPr>
              <a:t>Verification status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526773"/>
                </a:solidFill>
                <a:latin typeface="Arial"/>
              </a:rPr>
              <a:t>Source checks passed; runtime validation is pending</a:t>
            </a:r>
            <a:endParaRPr lang="en-US" sz="1900"/>
          </a:p>
        </p:txBody>
      </p:sp>
      <p:sp>
        <p:nvSpPr>
          <p:cNvPr id="6" name="Shape 6"/>
          <p:cNvSpPr txBox="1"/>
          <p:nvPr/>
        </p:nvSpPr>
        <p:spPr>
          <a:xfrm>
            <a:off x="59436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7" name="Shape 7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COMPLETED CHECKS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Java syntax: 13 source files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XML parsing: 6 files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Resource and manifest references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SQLite CRUD and favourite ordering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Unicode and apostrophe test data</a:t>
            </a:r>
            <a:endParaRPr lang="en-US" sz="1900"/>
          </a:p>
        </p:txBody>
      </p:sp>
      <p:sp>
        <p:nvSpPr>
          <p:cNvPr id="9" name="Shape 9"/>
          <p:cNvSpPr txBox="1"/>
          <p:nvPr/>
        </p:nvSpPr>
        <p:spPr>
          <a:xfrm>
            <a:off x="626364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10" name="Shape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OUTSTANDING CHECKS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49224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SDK access blocked compilation/lint.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adb access blocked device testing.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Build, installation, visual checks and reminder delivery need validation.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594360" y="637336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Aravindh P | Richu James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10972800" y="63733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11 / 12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7D70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3" name="Shape 3"/>
          <p:cNvSpPr txBox="1"/>
          <p:nvPr/>
        </p:nvSpPr>
        <p:spPr>
          <a:xfrm>
            <a:off x="594360" y="3931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rgbClr val="147D70"/>
                </a:solidFill>
                <a:latin typeface="Arial"/>
              </a:rPr>
              <a:t>MOBILE APP DEVELOPMENT / FAMILYCHECK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b="1">
                <a:solidFill>
                  <a:srgbClr val="172E3C"/>
                </a:solidFill>
                <a:latin typeface="Arial"/>
              </a:rPr>
              <a:t>Conclusion &amp; next steps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526773"/>
                </a:solidFill>
                <a:latin typeface="Arial"/>
              </a:rPr>
              <a:t>A focused Android course project</a:t>
            </a:r>
            <a:endParaRPr lang="en-US" sz="1900"/>
          </a:p>
        </p:txBody>
      </p:sp>
      <p:sp>
        <p:nvSpPr>
          <p:cNvPr id="6" name="Shape 6"/>
          <p:cNvSpPr txBox="1"/>
          <p:nvPr/>
        </p:nvSpPr>
        <p:spPr>
          <a:xfrm>
            <a:off x="59436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7" name="Shape 7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PROJECT CONTRIBUTION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A pause → check → connect workflow.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Core Android concepts applied to a practical interaction problem.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No backend or automatic fraud verdict.</a:t>
            </a:r>
            <a:endParaRPr lang="en-US" sz="1900"/>
          </a:p>
        </p:txBody>
      </p:sp>
      <p:sp>
        <p:nvSpPr>
          <p:cNvPr id="9" name="Shape 9"/>
          <p:cNvSpPr txBox="1"/>
          <p:nvPr/>
        </p:nvSpPr>
        <p:spPr>
          <a:xfrm>
            <a:off x="6263640" y="2377440"/>
            <a:ext cx="5303520" cy="363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00" b="0">
                <a:solidFill>
                  <a:srgbClr val="172E3C"/>
                </a:solidFill>
                <a:latin typeface="Arial"/>
              </a:rPr>
              <a:t/>
            </a:r>
            <a:endParaRPr lang="en-US" sz="100"/>
          </a:p>
        </p:txBody>
      </p:sp>
      <p:sp>
        <p:nvSpPr>
          <p:cNvPr id="10" name="Shape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>
                <a:solidFill>
                  <a:srgbClr val="147D70"/>
                </a:solidFill>
                <a:latin typeface="Arial"/>
              </a:rPr>
              <a:t>NEXT STEPS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492240" y="3172968"/>
            <a:ext cx="4846320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Complete build and device testing.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Evaluate readability with older users.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Consider regional languages and per-case reminders.</a:t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/>
            </a:r>
            <a:endParaRPr lang="en-US" sz="190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900" b="0">
                <a:solidFill>
                  <a:srgbClr val="172E3C"/>
                </a:solidFill>
                <a:latin typeface="Arial"/>
              </a:rPr>
              <a:t>Thank you — Questions?</a:t>
            </a:r>
            <a:endParaRPr lang="en-US" sz="1900"/>
          </a:p>
        </p:txBody>
      </p:sp>
      <p:sp>
        <p:nvSpPr>
          <p:cNvPr id="12" name="Shape 12"/>
          <p:cNvSpPr txBox="1"/>
          <p:nvPr/>
        </p:nvSpPr>
        <p:spPr>
          <a:xfrm>
            <a:off x="594360" y="637336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Aravindh P | Richu James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10972800" y="63733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100" b="0">
                <a:solidFill>
                  <a:srgbClr val="526773"/>
                </a:solidFill>
                <a:latin typeface="Arial"/>
              </a:rPr>
              <a:t>12 / 12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ilyCheck">
  <a:themeElements>
    <a:clrScheme name="FamilyCheck">
      <a:dk1>
        <a:srgbClr val="172E3C"/>
      </a:dk1>
      <a:lt1>
        <a:srgbClr val="FFFFFF"/>
      </a:lt1>
      <a:dk2>
        <a:srgbClr val="526773"/>
      </a:dk2>
      <a:lt2>
        <a:srgbClr val="F4F7F8"/>
      </a:lt2>
      <a:accent1>
        <a:srgbClr val="147D70"/>
      </a:accent1>
      <a:accent2>
        <a:srgbClr val="6CA99D"/>
      </a:accent2>
      <a:accent3>
        <a:srgbClr val="D5E9E4"/>
      </a:accent3>
      <a:accent4>
        <a:srgbClr val="527A91"/>
      </a:accent4>
      <a:accent5>
        <a:srgbClr val="C4A66A"/>
      </a:accent5>
      <a:accent6>
        <a:srgbClr val="A0B4BD"/>
      </a:accent6>
      <a:hlink>
        <a:srgbClr val="147D70"/>
      </a:hlink>
      <a:folHlink>
        <a:srgbClr val="527A91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